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E7C7B"/>
            </a:solidFill>
          </c:spPr>
          <c:cat>
            <c:strRef>
              <c:f>Sheet1!$A$2:$A$5</c:f>
              <c:strCache>
                <c:ptCount val="4"/>
                <c:pt idx="0">
                  <c:v>Init no-LLM</c:v>
                </c:pt>
                <c:pt idx="1">
                  <c:v>Init + LLM</c:v>
                </c:pt>
                <c:pt idx="2">
                  <c:v>Stable no-LLM</c:v>
                </c:pt>
                <c:pt idx="3">
                  <c:v>Stable + LLM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0.849</c:v>
                </c:pt>
                <c:pt idx="1">
                  <c:v>0.888</c:v>
                </c:pt>
                <c:pt idx="2">
                  <c:v>0.841</c:v>
                </c:pt>
                <c:pt idx="3">
                  <c:v>0.904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F06449"/>
            </a:solidFill>
          </c:spPr>
          <c:cat>
            <c:strRef>
              <c:f>Sheet1!$A$2:$A$5</c:f>
              <c:strCache>
                <c:ptCount val="4"/>
                <c:pt idx="0">
                  <c:v>Init no-LLM</c:v>
                </c:pt>
                <c:pt idx="1">
                  <c:v>Init + LLM</c:v>
                </c:pt>
                <c:pt idx="2">
                  <c:v>Stable no-LLM</c:v>
                </c:pt>
                <c:pt idx="3">
                  <c:v>Stable + LLM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0.935441</c:v>
                </c:pt>
                <c:pt idx="1">
                  <c:v>0.926829</c:v>
                </c:pt>
                <c:pt idx="2">
                  <c:v>0.837642</c:v>
                </c:pt>
                <c:pt idx="3">
                  <c:v>0.900447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8A999"/>
            </a:solidFill>
          </c:spPr>
          <c:cat>
            <c:strRef>
              <c:f>Sheet1!$A$2:$A$5</c:f>
              <c:strCache>
                <c:ptCount val="4"/>
                <c:pt idx="0">
                  <c:v>Init no-LLM</c:v>
                </c:pt>
                <c:pt idx="1">
                  <c:v>Init + LLM</c:v>
                </c:pt>
                <c:pt idx="2">
                  <c:v>Stable no-LLM</c:v>
                </c:pt>
                <c:pt idx="3">
                  <c:v>Stable + LLM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0.874384</c:v>
                </c:pt>
                <c:pt idx="1">
                  <c:v>0.935961</c:v>
                </c:pt>
                <c:pt idx="2">
                  <c:v>0.997537</c:v>
                </c:pt>
                <c:pt idx="3">
                  <c:v>0.991379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F2C14E"/>
            </a:solidFill>
          </c:spPr>
          <c:cat>
            <c:strRef>
              <c:f>Sheet1!$A$2:$A$5</c:f>
              <c:strCache>
                <c:ptCount val="4"/>
                <c:pt idx="0">
                  <c:v>Init no-LLM</c:v>
                </c:pt>
                <c:pt idx="1">
                  <c:v>Init + LLM</c:v>
                </c:pt>
                <c:pt idx="2">
                  <c:v>Stable no-LLM</c:v>
                </c:pt>
                <c:pt idx="3">
                  <c:v>Stable + LLM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0.903883</c:v>
                </c:pt>
                <c:pt idx="1">
                  <c:v>0.931373</c:v>
                </c:pt>
                <c:pt idx="2">
                  <c:v>0.910624</c:v>
                </c:pt>
                <c:pt idx="3">
                  <c:v>0.943728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5EC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正例率</c:v>
                </c:pt>
              </c:strCache>
            </c:strRef>
          </c:tx>
          <c:spPr>
            <a:solidFill>
              <a:srgbClr val="0E7C7B"/>
            </a:solidFill>
          </c:spPr>
          <c:cat>
            <c:strRef>
              <c:f>Sheet1!$A$2:$A$5</c:f>
              <c:strCache>
                <c:ptCount val="4"/>
                <c:pt idx="0">
                  <c:v>Init\n10000</c:v>
                </c:pt>
                <c:pt idx="1">
                  <c:v>Stable\n10000</c:v>
                </c:pt>
                <c:pt idx="2">
                  <c:v>Resample\n10000</c:v>
                </c:pt>
                <c:pt idx="3">
                  <c:v>Full\n40276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0.3407</c:v>
                </c:pt>
                <c:pt idx="1">
                  <c:v>0.7665</c:v>
                </c:pt>
                <c:pt idx="2">
                  <c:v>0.7586</c:v>
                </c:pt>
                <c:pt idx="3">
                  <c:v>0.763979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5EC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17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3716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2C14E"/>
                </a:solidFill>
                <a:latin typeface="Microsoft YaHei"/>
              </a:rPr>
              <a:t>MEC-BS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15568"/>
            <a:ext cx="6492240" cy="1444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Microsoft YaHei"/>
              </a:rPr>
              <a:t>城市更新文献识别的\n多层证据约束二分类实验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761488"/>
            <a:ext cx="57607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DF3ED"/>
                </a:solidFill>
                <a:latin typeface="Microsoft YaHei"/>
              </a:rPr>
              <a:t>规则主导 · 动态主题补充 · 选择性 LLM 裁决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097280"/>
            <a:ext cx="17373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2C14E"/>
                </a:solidFill>
                <a:latin typeface="Microsoft YaHei"/>
              </a:rPr>
              <a:t>90.4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55480" y="1188720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2C14E"/>
                </a:solidFill>
                <a:latin typeface="Microsoft YaHei"/>
              </a:rPr>
              <a:t>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9872" y="1627631"/>
            <a:ext cx="18288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80" b="0">
                <a:solidFill>
                  <a:srgbClr val="637071"/>
                </a:solidFill>
                <a:latin typeface="Microsoft YaHei"/>
              </a:rPr>
              <a:t>LLM 困难样本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1097280"/>
            <a:ext cx="17373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84.1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1188720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1627631"/>
            <a:ext cx="18288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80" b="0">
                <a:solidFill>
                  <a:srgbClr val="637071"/>
                </a:solidFill>
                <a:latin typeface="Microsoft YaHei"/>
              </a:rPr>
              <a:t>no-LLM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331720"/>
            <a:ext cx="17373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DDF3ED"/>
                </a:solidFill>
                <a:latin typeface="Microsoft YaHei"/>
              </a:rPr>
              <a:t>76.40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5480" y="2423160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DF3ED"/>
                </a:solidFill>
                <a:latin typeface="Microsoft YaHei"/>
              </a:rPr>
              <a:t>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2" y="2862072"/>
            <a:ext cx="18288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80" b="0">
                <a:solidFill>
                  <a:srgbClr val="637071"/>
                </a:solidFill>
                <a:latin typeface="Microsoft YaHei"/>
              </a:rPr>
              <a:t>全量 no-LLM 正例率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2331720"/>
            <a:ext cx="17373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0/0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48672" y="2862072"/>
            <a:ext cx="18288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80" b="0">
                <a:solidFill>
                  <a:srgbClr val="637071"/>
                </a:solidFill>
                <a:latin typeface="Microsoft YaHei"/>
              </a:rPr>
              <a:t>全量 LLM used/attempted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897880"/>
            <a:ext cx="53035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14E"/>
                </a:solidFill>
                <a:latin typeface="Microsoft YaHei"/>
              </a:rPr>
              <a:t>阶段判断：二分类任务已达到当前验收标准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1323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2326"/>
                </a:solidFill>
                <a:latin typeface="Microsoft YaHei"/>
              </a:rPr>
              <a:t>一页看清：四项核心目标全部达标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77824"/>
            <a:ext cx="7863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37071"/>
                </a:solidFill>
                <a:latin typeface="Microsoft YaHei"/>
              </a:rPr>
              <a:t>从局部精度、大样本结构稳定性到 no-LLM 合同均已验证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44752"/>
            <a:ext cx="201168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0E7C7B"/>
                </a:solidFill>
                <a:latin typeface="Microsoft YaHei"/>
              </a:rPr>
              <a:t>84.1%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201168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72326"/>
                </a:solidFill>
                <a:latin typeface="Microsoft YaHei"/>
              </a:rPr>
              <a:t>1000 no-LLM\nAccuracy &gt;= 80%</a:t>
            </a:r>
          </a:p>
        </p:txBody>
      </p:sp>
      <p:sp>
        <p:nvSpPr>
          <p:cNvPr id="6" name="Rectangle 5"/>
          <p:cNvSpPr/>
          <p:nvPr/>
        </p:nvSpPr>
        <p:spPr>
          <a:xfrm>
            <a:off x="978408" y="2697480"/>
            <a:ext cx="16002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444752"/>
            <a:ext cx="201168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06449"/>
                </a:solidFill>
                <a:latin typeface="Microsoft YaHei"/>
              </a:rPr>
              <a:t>90.4%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975104"/>
            <a:ext cx="201168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72326"/>
                </a:solidFill>
                <a:latin typeface="Microsoft YaHei"/>
              </a:rPr>
              <a:t>1000 LLM\nAccuracy &gt;= 85%</a:t>
            </a:r>
          </a:p>
        </p:txBody>
      </p:sp>
      <p:sp>
        <p:nvSpPr>
          <p:cNvPr id="9" name="Rectangle 8"/>
          <p:cNvSpPr/>
          <p:nvPr/>
        </p:nvSpPr>
        <p:spPr>
          <a:xfrm>
            <a:off x="3767328" y="2697480"/>
            <a:ext cx="1600200" cy="54864"/>
          </a:xfrm>
          <a:prstGeom prst="rect">
            <a:avLst/>
          </a:prstGeom>
          <a:solidFill>
            <a:srgbClr val="F06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79" y="1444752"/>
            <a:ext cx="201168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18A999"/>
                </a:solidFill>
                <a:latin typeface="Microsoft YaHei"/>
              </a:rPr>
              <a:t>76.65%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79" y="1975104"/>
            <a:ext cx="201168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72326"/>
                </a:solidFill>
                <a:latin typeface="Microsoft YaHei"/>
              </a:rPr>
              <a:t>10000 第一轮\n正例率 75%-85%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56247" y="2697480"/>
            <a:ext cx="1600200" cy="54864"/>
          </a:xfrm>
          <a:prstGeom prst="rect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3999" y="1444752"/>
            <a:ext cx="201168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2C14E"/>
                </a:solidFill>
                <a:latin typeface="Microsoft YaHei"/>
              </a:rPr>
              <a:t>76.40%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3999" y="1975104"/>
            <a:ext cx="201168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72326"/>
                </a:solidFill>
                <a:latin typeface="Microsoft YaHei"/>
              </a:rPr>
              <a:t>40276 全量\nno-LLM 正例率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45167" y="2697480"/>
            <a:ext cx="1600200" cy="54864"/>
          </a:xfrm>
          <a:prstGeom prst="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749039"/>
            <a:ext cx="109728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72326"/>
                </a:solidFill>
                <a:latin typeface="Microsoft YaHei"/>
              </a:rPr>
              <a:t>关键解释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60520"/>
            <a:ext cx="8778240" cy="9144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72326"/>
                </a:solidFill>
                <a:latin typeface="Microsoft YaHei"/>
              </a:rPr>
              <a:t>· no-LLM 路径已经具备可复现部署能力，且全量运行 LLM 计数为 0。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72326"/>
                </a:solidFill>
                <a:latin typeface="Microsoft YaHei"/>
              </a:rPr>
              <a:t>· 选择性 LLM 不替代规则全量分类，只裁决困难样本，提升 Precision 与 Accuracy。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72326"/>
                </a:solidFill>
                <a:latin typeface="Microsoft YaHei"/>
              </a:rPr>
              <a:t>· 大样本和全量正例率稳定在约 76%，证明不是对 1000 样本过拟合。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49377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37071"/>
                </a:solidFill>
                <a:latin typeface="Microsoft YaHei"/>
              </a:rPr>
              <a:t>城市更新二分类指标提取任务 | 进度汇报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55664"/>
            <a:ext cx="3200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637071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1323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2326"/>
                </a:solidFill>
                <a:latin typeface="Microsoft YaHei"/>
              </a:rPr>
              <a:t>实验设计不是单一 Accuracy：采用双层验证协议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77824"/>
            <a:ext cx="7863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37071"/>
                </a:solidFill>
                <a:latin typeface="Microsoft YaHei"/>
              </a:rPr>
              <a:t>小样本精度 + 大样本结构稳定性共同决定是否可部署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00200"/>
            <a:ext cx="22402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10512"/>
            <a:ext cx="4114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7C7B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12848"/>
            <a:ext cx="18288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72326"/>
                </a:solidFill>
                <a:latin typeface="Microsoft YaHei"/>
              </a:rPr>
              <a:t>1000 带标签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16352"/>
            <a:ext cx="182880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72326"/>
                </a:solidFill>
                <a:latin typeface="Microsoft YaHei"/>
              </a:rPr>
              <a:t>计算 Accuracy / Precision / Recall / 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85615"/>
            <a:ext cx="18288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637071"/>
                </a:solidFill>
                <a:latin typeface="Microsoft YaHei"/>
              </a:rPr>
              <a:t>验证局部判别能力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34640" y="3063240"/>
            <a:ext cx="548639" cy="0"/>
          </a:xfrm>
          <a:prstGeom prst="line">
            <a:avLst/>
          </a:prstGeom>
          <a:ln>
            <a:solidFill>
              <a:srgbClr val="0E7C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83279" y="1600200"/>
            <a:ext cx="22402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810512"/>
            <a:ext cx="4114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7C7B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212848"/>
            <a:ext cx="18288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72326"/>
                </a:solidFill>
                <a:latin typeface="Microsoft YaHei"/>
              </a:rPr>
              <a:t>10000 抽样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816352"/>
            <a:ext cx="182880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72326"/>
                </a:solidFill>
                <a:latin typeface="Microsoft YaHei"/>
              </a:rPr>
              <a:t>检查正例率是否落入 75%-85%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785615"/>
            <a:ext cx="18288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637071"/>
                </a:solidFill>
                <a:latin typeface="Microsoft YaHei"/>
              </a:rPr>
              <a:t>验证真实语料比例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23560" y="3063240"/>
            <a:ext cx="548640" cy="0"/>
          </a:xfrm>
          <a:prstGeom prst="line">
            <a:avLst/>
          </a:prstGeom>
          <a:ln>
            <a:solidFill>
              <a:srgbClr val="0E7C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72200" y="1600200"/>
            <a:ext cx="22402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810512"/>
            <a:ext cx="4114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7C7B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12848"/>
            <a:ext cx="18288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72326"/>
                </a:solidFill>
                <a:latin typeface="Microsoft YaHei"/>
              </a:rPr>
              <a:t>10000 重抽样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816352"/>
            <a:ext cx="182880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72326"/>
                </a:solidFill>
                <a:latin typeface="Microsoft YaHei"/>
              </a:rPr>
              <a:t>排除上一轮样本后重复检查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785615"/>
            <a:ext cx="18288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637071"/>
                </a:solidFill>
                <a:latin typeface="Microsoft YaHei"/>
              </a:rPr>
              <a:t>验证抽样稳定性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12480" y="3063240"/>
            <a:ext cx="548640" cy="0"/>
          </a:xfrm>
          <a:prstGeom prst="line">
            <a:avLst/>
          </a:prstGeom>
          <a:ln>
            <a:solidFill>
              <a:srgbClr val="0E7C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961119" y="1600200"/>
            <a:ext cx="22402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3999" y="1810512"/>
            <a:ext cx="4114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7C7B"/>
                </a:solidFill>
                <a:latin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999" y="2212848"/>
            <a:ext cx="18288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72326"/>
                </a:solidFill>
                <a:latin typeface="Microsoft YaHei"/>
              </a:rPr>
              <a:t>40276 全量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3999" y="2816352"/>
            <a:ext cx="182880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72326"/>
                </a:solidFill>
                <a:latin typeface="Microsoft YaHei"/>
              </a:rPr>
              <a:t>完整 no-LLM 运行与工件索引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3999" y="3785615"/>
            <a:ext cx="18288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637071"/>
                </a:solidFill>
                <a:latin typeface="Microsoft YaHei"/>
              </a:rPr>
              <a:t>验证部署外推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532120"/>
            <a:ext cx="99669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06449"/>
                </a:solidFill>
                <a:latin typeface="Microsoft YaHei"/>
              </a:rPr>
              <a:t>结论：初版 1000 Accuracy 达标但 10000 正例率仅 34.07%，说明必须加入大样本结构诊断。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49377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37071"/>
                </a:solidFill>
                <a:latin typeface="Microsoft YaHei"/>
              </a:rPr>
              <a:t>城市更新二分类指标提取任务 | 进度汇报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55664"/>
            <a:ext cx="3200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637071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1323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MEC-BS 方法体系：从学理边界到最终二分类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77824"/>
            <a:ext cx="7863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DDF3ED"/>
                </a:solidFill>
                <a:latin typeface="Microsoft YaHei"/>
              </a:rPr>
              <a:t>九个方法模块构成可解释、可复现、可扩展的研究设计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600200"/>
            <a:ext cx="694944" cy="694944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73936"/>
            <a:ext cx="69494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72326"/>
                </a:solidFill>
                <a:latin typeface="Microsoft YaHei"/>
              </a:rPr>
              <a:t>M1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2441448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概念边界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27048" y="1947672"/>
            <a:ext cx="868680" cy="0"/>
          </a:xfrm>
          <a:prstGeom prst="line">
            <a:avLst/>
          </a:prstGeom>
          <a:ln>
            <a:solidFill>
              <a:srgbClr val="DDF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990088" y="1600200"/>
            <a:ext cx="694944" cy="6949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0088" y="1773936"/>
            <a:ext cx="69494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72326"/>
                </a:solidFill>
                <a:latin typeface="Microsoft YaHei"/>
              </a:rPr>
              <a:t>M2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441448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证据锚点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39896" y="1947672"/>
            <a:ext cx="868680" cy="0"/>
          </a:xfrm>
          <a:prstGeom prst="line">
            <a:avLst/>
          </a:prstGeom>
          <a:ln>
            <a:solidFill>
              <a:srgbClr val="DDF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202936" y="1600200"/>
            <a:ext cx="694944" cy="6949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02936" y="1773936"/>
            <a:ext cx="69494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72326"/>
                </a:solidFill>
                <a:latin typeface="Microsoft YaHei"/>
              </a:rPr>
              <a:t>M3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2441448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主题本体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52744" y="1947672"/>
            <a:ext cx="868680" cy="0"/>
          </a:xfrm>
          <a:prstGeom prst="line">
            <a:avLst/>
          </a:prstGeom>
          <a:ln>
            <a:solidFill>
              <a:srgbClr val="DDF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415783" y="1600200"/>
            <a:ext cx="694944" cy="6949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15783" y="1773936"/>
            <a:ext cx="69494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72326"/>
                </a:solidFill>
                <a:latin typeface="Microsoft YaHei"/>
              </a:rPr>
              <a:t>M4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31736" y="2441448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开放集诊断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165592" y="1947672"/>
            <a:ext cx="868680" cy="0"/>
          </a:xfrm>
          <a:prstGeom prst="line">
            <a:avLst/>
          </a:prstGeom>
          <a:ln>
            <a:solidFill>
              <a:srgbClr val="DDF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9628632" y="1600200"/>
            <a:ext cx="694944" cy="6949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28632" y="1773936"/>
            <a:ext cx="69494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72326"/>
                </a:solidFill>
                <a:latin typeface="Microsoft YaHei"/>
              </a:rPr>
              <a:t>M5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584" y="2441448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动态主题</a:t>
            </a:r>
          </a:p>
        </p:txBody>
      </p:sp>
      <p:sp>
        <p:nvSpPr>
          <p:cNvPr id="23" name="Oval 22"/>
          <p:cNvSpPr/>
          <p:nvPr/>
        </p:nvSpPr>
        <p:spPr>
          <a:xfrm>
            <a:off x="1874519" y="3474720"/>
            <a:ext cx="694944" cy="6949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74519" y="3648456"/>
            <a:ext cx="69494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72326"/>
                </a:solidFill>
                <a:latin typeface="Microsoft YaHei"/>
              </a:rPr>
              <a:t>M6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0472" y="4315968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二分类修正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24327" y="3822191"/>
            <a:ext cx="868680" cy="0"/>
          </a:xfrm>
          <a:prstGeom prst="line">
            <a:avLst/>
          </a:prstGeom>
          <a:ln>
            <a:solidFill>
              <a:srgbClr val="DDF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087368" y="3474720"/>
            <a:ext cx="694944" cy="694944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87368" y="3648456"/>
            <a:ext cx="69494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72326"/>
                </a:solidFill>
                <a:latin typeface="Microsoft YaHei"/>
              </a:rPr>
              <a:t>M7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315968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证据仲裁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37176" y="3822191"/>
            <a:ext cx="868680" cy="0"/>
          </a:xfrm>
          <a:prstGeom prst="line">
            <a:avLst/>
          </a:prstGeom>
          <a:ln>
            <a:solidFill>
              <a:srgbClr val="DDF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300216" y="3474720"/>
            <a:ext cx="694944" cy="6949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0216" y="3648456"/>
            <a:ext cx="69494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72326"/>
                </a:solidFill>
                <a:latin typeface="Microsoft YaHei"/>
              </a:rPr>
              <a:t>M8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16168" y="4315968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LLM 裁决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050024" y="3822191"/>
            <a:ext cx="868680" cy="0"/>
          </a:xfrm>
          <a:prstGeom prst="line">
            <a:avLst/>
          </a:prstGeom>
          <a:ln>
            <a:solidFill>
              <a:srgbClr val="DDF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8513063" y="3474720"/>
            <a:ext cx="694944" cy="694944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13063" y="3648456"/>
            <a:ext cx="69494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72326"/>
                </a:solidFill>
                <a:latin typeface="Microsoft YaHei"/>
              </a:rPr>
              <a:t>M9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29015" y="4315968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双层验证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760720"/>
            <a:ext cx="104241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DDF3ED"/>
                </a:solidFill>
                <a:latin typeface="Microsoft YaHei"/>
              </a:rPr>
              <a:t>主线逻辑：定义边界 → 抽取证据 → 组织主题 → 发现开放集 → 修复漏召回 → 仲裁最终标签 → 验证部署稳定性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1323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2326"/>
                </a:solidFill>
                <a:latin typeface="Microsoft YaHei"/>
              </a:rPr>
              <a:t>判定核心：动作 + 对象 - 风险 的三元证据结构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77824"/>
            <a:ext cx="7863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37071"/>
                </a:solidFill>
                <a:latin typeface="Microsoft YaHei"/>
              </a:rPr>
              <a:t>城市更新不是泛城市词汇命中，而是更新过程与既有城市对象同时成立</a:t>
            </a:r>
          </a:p>
        </p:txBody>
      </p:sp>
      <p:sp>
        <p:nvSpPr>
          <p:cNvPr id="4" name="Oval 3"/>
          <p:cNvSpPr/>
          <p:nvPr/>
        </p:nvSpPr>
        <p:spPr>
          <a:xfrm>
            <a:off x="960120" y="1920240"/>
            <a:ext cx="1965960" cy="196596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0" y="1920240"/>
            <a:ext cx="1965960" cy="1965960"/>
          </a:xfrm>
          <a:prstGeom prst="ellipse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26280" y="1920240"/>
            <a:ext cx="1965960" cy="1965960"/>
          </a:xfrm>
          <a:prstGeom prst="ellipse">
            <a:avLst/>
          </a:prstGeom>
          <a:solidFill>
            <a:srgbClr val="F06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487168"/>
            <a:ext cx="132588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更新动作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53512" y="2487168"/>
            <a:ext cx="150876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既有城市对象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8032" y="2487168"/>
            <a:ext cx="132588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负类风险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99232"/>
            <a:ext cx="16459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Microsoft YaHei"/>
              </a:rPr>
              <a:t>renewal / regeneration\nredevelopment / reuse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999232"/>
            <a:ext cx="16002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Microsoft YaHei"/>
              </a:rPr>
              <a:t>brownfield / old district\nneighborhood / heritage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2999232"/>
            <a:ext cx="16002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Microsoft YaHei"/>
              </a:rPr>
              <a:t>rural / pure method\ntraffic / ecology / tourism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508760"/>
            <a:ext cx="352044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1810512"/>
            <a:ext cx="27432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172326"/>
                </a:solidFill>
                <a:latin typeface="Microsoft YaHei"/>
              </a:rPr>
              <a:t>层级证据仲裁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3774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72326"/>
                </a:solidFill>
                <a:latin typeface="Microsoft YaHei"/>
              </a:rPr>
              <a:t>强负类保护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2423160"/>
            <a:ext cx="2194560" cy="146304"/>
          </a:xfrm>
          <a:prstGeom prst="rect">
            <a:avLst/>
          </a:prstGeom>
          <a:solidFill>
            <a:srgbClr val="C9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0" y="2423160"/>
            <a:ext cx="395020" cy="146304"/>
          </a:xfrm>
          <a:prstGeom prst="rect">
            <a:avLst/>
          </a:prstGeom>
          <a:solidFill>
            <a:srgbClr val="F06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62688" y="2368296"/>
            <a:ext cx="7315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72326"/>
                </a:solidFill>
                <a:latin typeface="Microsoft YaHei"/>
              </a:rPr>
              <a:t>18.00%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2926080"/>
            <a:ext cx="228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72326"/>
                </a:solidFill>
                <a:latin typeface="Microsoft YaHei"/>
              </a:rPr>
              <a:t>强正类恢复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0" y="2971800"/>
            <a:ext cx="2194560" cy="146304"/>
          </a:xfrm>
          <a:prstGeom prst="rect">
            <a:avLst/>
          </a:prstGeom>
          <a:solidFill>
            <a:srgbClr val="C9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58400" y="2971800"/>
            <a:ext cx="1799539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62688" y="2916936"/>
            <a:ext cx="7315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72326"/>
                </a:solidFill>
                <a:latin typeface="Microsoft YaHei"/>
              </a:rPr>
              <a:t>82.00%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3474720"/>
            <a:ext cx="228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72326"/>
                </a:solidFill>
                <a:latin typeface="Microsoft YaHei"/>
              </a:rPr>
              <a:t>冲突样本保留复核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0" y="3520440"/>
            <a:ext cx="2194560" cy="146304"/>
          </a:xfrm>
          <a:prstGeom prst="rect">
            <a:avLst/>
          </a:prstGeom>
          <a:solidFill>
            <a:srgbClr val="C9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58400" y="3520440"/>
            <a:ext cx="1360627" cy="146304"/>
          </a:xfrm>
          <a:prstGeom prst="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62688" y="3465576"/>
            <a:ext cx="7315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72326"/>
                </a:solidFill>
                <a:latin typeface="Microsoft YaHei"/>
              </a:rPr>
              <a:t>62.00%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4096512"/>
            <a:ext cx="3017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637071"/>
                </a:solidFill>
                <a:latin typeface="Microsoft YaHei"/>
              </a:rPr>
              <a:t>输出：final_label / urban_flag / 是否属于城市更新研究 三列一致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49377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37071"/>
                </a:solidFill>
                <a:latin typeface="Microsoft YaHei"/>
              </a:rPr>
              <a:t>城市更新二分类指标提取任务 | 进度汇报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55664"/>
            <a:ext cx="3200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637071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1323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2326"/>
                </a:solidFill>
                <a:latin typeface="Microsoft YaHei"/>
              </a:rPr>
              <a:t>1000 篇带标签验证：no-LLM 已达标，LLM 精修进一步提升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77824"/>
            <a:ext cx="7863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37071"/>
                </a:solidFill>
                <a:latin typeface="Microsoft YaHei"/>
              </a:rPr>
              <a:t>稳定模型在召回上基本消除漏判，选择性 LLM 将 Accuracy 推升至 90.4%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13232" y="1417320"/>
          <a:ext cx="74523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49640" y="1600200"/>
            <a:ext cx="219456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72326"/>
                </a:solidFill>
                <a:latin typeface="Microsoft YaHei"/>
              </a:rPr>
              <a:t>关键变化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2148840"/>
            <a:ext cx="21945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E7C7B"/>
                </a:solidFill>
                <a:latin typeface="Microsoft YaHei"/>
              </a:rPr>
              <a:t>FN 从 102 降到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2578608"/>
            <a:ext cx="246888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72326"/>
                </a:solidFill>
                <a:latin typeface="Microsoft YaHei"/>
              </a:rPr>
              <a:t>稳定 no-LLM 优先修复漏召回，使城市更新文献不被过度压成负例。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3703320"/>
            <a:ext cx="21945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06449"/>
                </a:solidFill>
                <a:latin typeface="Microsoft YaHei"/>
              </a:rPr>
              <a:t>Accuracy 90.4%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4133087"/>
            <a:ext cx="246888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72326"/>
                </a:solidFill>
                <a:latin typeface="Microsoft YaHei"/>
              </a:rPr>
              <a:t>LLM 只裁决困难样本，进一步修复假阳性并提升总准确率。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49377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37071"/>
                </a:solidFill>
                <a:latin typeface="Microsoft YaHei"/>
              </a:rPr>
              <a:t>城市更新二分类指标提取任务 | 进度汇报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55664"/>
            <a:ext cx="3200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637071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1323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2326"/>
                </a:solidFill>
                <a:latin typeface="Microsoft YaHei"/>
              </a:rPr>
              <a:t>大样本结构验证：从 34.07% 修复到稳定约 76%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77824"/>
            <a:ext cx="7863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37071"/>
                </a:solidFill>
                <a:latin typeface="Microsoft YaHei"/>
              </a:rPr>
              <a:t>这一步证明方法不是只在 1000 篇验证集上好看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04672" y="1417320"/>
          <a:ext cx="65836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868680" y="1993392"/>
            <a:ext cx="6473952" cy="1143000"/>
          </a:xfrm>
          <a:prstGeom prst="rect">
            <a:avLst/>
          </a:prstGeom>
          <a:solidFill>
            <a:srgbClr val="DD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2084831"/>
            <a:ext cx="13258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E7C7B"/>
                </a:solidFill>
                <a:latin typeface="Microsoft YaHei"/>
              </a:rPr>
              <a:t>目标区间 75%-85%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00200"/>
            <a:ext cx="23774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72326"/>
                </a:solidFill>
                <a:latin typeface="Microsoft YaHei"/>
              </a:rPr>
              <a:t>为什么重要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084831"/>
            <a:ext cx="2834640" cy="1371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20" b="0">
                <a:solidFill>
                  <a:srgbClr val="172326"/>
                </a:solidFill>
                <a:latin typeface="Microsoft YaHei"/>
              </a:rPr>
              <a:t>· 初版 1000 Accuracy 达标，但 10000 正例率只有 34.07%。</a:t>
            </a:r>
          </a:p>
          <a:p>
            <a:pPr>
              <a:spcAft>
                <a:spcPts val="400"/>
              </a:spcAft>
            </a:pPr>
            <a:r>
              <a:rPr sz="1120" b="0">
                <a:solidFill>
                  <a:srgbClr val="172326"/>
                </a:solidFill>
                <a:latin typeface="Microsoft YaHei"/>
              </a:rPr>
              <a:t>· 稳定策略引入动态主题与层级仲裁后，比例回到任务预期。</a:t>
            </a:r>
          </a:p>
          <a:p>
            <a:pPr>
              <a:spcAft>
                <a:spcPts val="400"/>
              </a:spcAft>
            </a:pPr>
            <a:r>
              <a:rPr sz="1120" b="0">
                <a:solidFill>
                  <a:srgbClr val="172326"/>
                </a:solidFill>
                <a:latin typeface="Microsoft YaHei"/>
              </a:rPr>
              <a:t>· 两轮 10000 与全量 40276 高度一致，说明结构稳定。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160520"/>
            <a:ext cx="27432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06449"/>
                </a:solidFill>
                <a:latin typeface="Microsoft YaHei"/>
              </a:rPr>
              <a:t>全量 no-LLM：30770 正例 / 9506 负例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49377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37071"/>
                </a:solidFill>
                <a:latin typeface="Microsoft YaHei"/>
              </a:rPr>
              <a:t>城市更新二分类指标提取任务 | 进度汇报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55664"/>
            <a:ext cx="3200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637071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1323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2326"/>
                </a:solidFill>
                <a:latin typeface="Microsoft YaHei"/>
              </a:rPr>
              <a:t>全量可解释结构：冲突被显式暴露，主题覆盖可追踪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77824"/>
            <a:ext cx="7863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37071"/>
                </a:solidFill>
                <a:latin typeface="Microsoft YaHei"/>
              </a:rPr>
              <a:t>no-LLM 保留召回，LLM/人工复核集中处理高价值冲突池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29260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2326"/>
                </a:solidFill>
                <a:latin typeface="Microsoft YaHei"/>
              </a:rPr>
              <a:t>binary_policy_action 分布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72326"/>
                </a:solidFill>
                <a:latin typeface="Microsoft YaHei"/>
              </a:rPr>
              <a:t>conflict_review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154679" y="1965960"/>
            <a:ext cx="2743200" cy="146304"/>
          </a:xfrm>
          <a:prstGeom prst="rect">
            <a:avLst/>
          </a:prstGeom>
          <a:solidFill>
            <a:srgbClr val="C9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54679" y="1965960"/>
            <a:ext cx="2563977" cy="146304"/>
          </a:xfrm>
          <a:prstGeom prst="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7607" y="1911095"/>
            <a:ext cx="7315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72326"/>
                </a:solidFill>
                <a:latin typeface="Microsoft YaHei"/>
              </a:rPr>
              <a:t>42.06%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228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72326"/>
                </a:solidFill>
                <a:latin typeface="Microsoft YaHei"/>
              </a:rPr>
              <a:t>accept_positive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79" y="2468880"/>
            <a:ext cx="2743200" cy="146304"/>
          </a:xfrm>
          <a:prstGeom prst="rect">
            <a:avLst/>
          </a:prstGeom>
          <a:solidFill>
            <a:srgbClr val="C9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54679" y="2468880"/>
            <a:ext cx="2093366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07607" y="2414016"/>
            <a:ext cx="7315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72326"/>
                </a:solidFill>
                <a:latin typeface="Microsoft YaHei"/>
              </a:rPr>
              <a:t>34.34%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228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72326"/>
                </a:solidFill>
                <a:latin typeface="Microsoft YaHei"/>
              </a:rPr>
              <a:t>accept_negative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79" y="2971800"/>
            <a:ext cx="2743200" cy="146304"/>
          </a:xfrm>
          <a:prstGeom prst="rect">
            <a:avLst/>
          </a:prstGeom>
          <a:solidFill>
            <a:srgbClr val="C9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54679" y="2971800"/>
            <a:ext cx="1411224" cy="146304"/>
          </a:xfrm>
          <a:prstGeom prst="rect">
            <a:avLst/>
          </a:prstGeom>
          <a:solidFill>
            <a:srgbClr val="637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07607" y="2916936"/>
            <a:ext cx="7315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72326"/>
                </a:solidFill>
                <a:latin typeface="Microsoft YaHei"/>
              </a:rPr>
              <a:t>23.15%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29000"/>
            <a:ext cx="228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72326"/>
                </a:solidFill>
                <a:latin typeface="Microsoft YaHei"/>
              </a:rPr>
              <a:t>protected_negative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54679" y="3474720"/>
            <a:ext cx="2743200" cy="146304"/>
          </a:xfrm>
          <a:prstGeom prst="rect">
            <a:avLst/>
          </a:prstGeom>
          <a:solidFill>
            <a:srgbClr val="C9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54679" y="3474720"/>
            <a:ext cx="28041" cy="146304"/>
          </a:xfrm>
          <a:prstGeom prst="rect">
            <a:avLst/>
          </a:prstGeom>
          <a:solidFill>
            <a:srgbClr val="F06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07607" y="3419856"/>
            <a:ext cx="7315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72326"/>
                </a:solidFill>
                <a:latin typeface="Microsoft YaHei"/>
              </a:rPr>
              <a:t>0.46%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417320"/>
            <a:ext cx="31089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2326"/>
                </a:solidFill>
                <a:latin typeface="Microsoft YaHei"/>
              </a:rPr>
              <a:t>dynamic_mapping_status 分布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9202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72326"/>
                </a:solidFill>
                <a:latin typeface="Microsoft YaHei"/>
              </a:rPr>
              <a:t>mapped_to_fixed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1965960"/>
            <a:ext cx="2743200" cy="146304"/>
          </a:xfrm>
          <a:prstGeom prst="rect">
            <a:avLst/>
          </a:prstGeom>
          <a:solidFill>
            <a:srgbClr val="C9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0" y="1965960"/>
            <a:ext cx="2575864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539728" y="1911095"/>
            <a:ext cx="7315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72326"/>
                </a:solidFill>
                <a:latin typeface="Microsoft YaHei"/>
              </a:rPr>
              <a:t>75.12%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423160"/>
            <a:ext cx="228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72326"/>
                </a:solidFill>
                <a:latin typeface="Microsoft YaHei"/>
              </a:rPr>
              <a:t>needs_review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2468880"/>
            <a:ext cx="2743200" cy="146304"/>
          </a:xfrm>
          <a:prstGeom prst="rect">
            <a:avLst/>
          </a:prstGeom>
          <a:solidFill>
            <a:srgbClr val="C9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0" y="2468880"/>
            <a:ext cx="634707" cy="146304"/>
          </a:xfrm>
          <a:prstGeom prst="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539728" y="2414016"/>
            <a:ext cx="7315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72326"/>
                </a:solidFill>
                <a:latin typeface="Microsoft YaHei"/>
              </a:rPr>
              <a:t>18.51%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926080"/>
            <a:ext cx="228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72326"/>
                </a:solidFill>
                <a:latin typeface="Microsoft YaHei"/>
              </a:rPr>
              <a:t>candidate_new_nonurban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2971800"/>
            <a:ext cx="2743200" cy="146304"/>
          </a:xfrm>
          <a:prstGeom prst="rect">
            <a:avLst/>
          </a:prstGeom>
          <a:solidFill>
            <a:srgbClr val="C9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86800" y="2971800"/>
            <a:ext cx="202310" cy="146304"/>
          </a:xfrm>
          <a:prstGeom prst="rect">
            <a:avLst/>
          </a:prstGeom>
          <a:solidFill>
            <a:srgbClr val="637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539728" y="2916936"/>
            <a:ext cx="7315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72326"/>
                </a:solidFill>
                <a:latin typeface="Microsoft YaHei"/>
              </a:rPr>
              <a:t>5.90%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429000"/>
            <a:ext cx="228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72326"/>
                </a:solidFill>
                <a:latin typeface="Microsoft YaHei"/>
              </a:rPr>
              <a:t>candidate_new_urban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0" y="3474720"/>
            <a:ext cx="2743200" cy="146304"/>
          </a:xfrm>
          <a:prstGeom prst="rect">
            <a:avLst/>
          </a:prstGeom>
          <a:solidFill>
            <a:srgbClr val="C9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86800" y="3474720"/>
            <a:ext cx="27432" cy="146304"/>
          </a:xfrm>
          <a:prstGeom prst="rect">
            <a:avLst/>
          </a:prstGeom>
          <a:solidFill>
            <a:srgbClr val="F06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39728" y="3419856"/>
            <a:ext cx="7315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72326"/>
                </a:solidFill>
                <a:latin typeface="Microsoft YaHei"/>
              </a:rPr>
              <a:t>0.46%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8" y="5074920"/>
            <a:ext cx="10607040" cy="731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58384"/>
            <a:ext cx="987552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72326"/>
                </a:solidFill>
                <a:latin typeface="Microsoft YaHei"/>
              </a:rPr>
              <a:t>解释：42.06% 的 conflict_review 不是失败，而是把不确定性集中暴露，为选择性 LLM 或人工复核提供明确入口。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49377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37071"/>
                </a:solidFill>
                <a:latin typeface="Microsoft YaHei"/>
              </a:rPr>
              <a:t>城市更新二分类指标提取任务 | 进度汇报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84280" y="6455664"/>
            <a:ext cx="3200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637071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1323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2326"/>
                </a:solidFill>
                <a:latin typeface="Microsoft YaHei"/>
              </a:rPr>
              <a:t>为什么当前方案优于常见替代路线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77824"/>
            <a:ext cx="7863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37071"/>
                </a:solidFill>
                <a:latin typeface="Microsoft YaHei"/>
              </a:rPr>
              <a:t>核心不是堆叠大模型，而是把规则、主题和模型裁决放到正确位置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417320"/>
            <a:ext cx="102412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581912"/>
            <a:ext cx="1600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72326"/>
                </a:solidFill>
                <a:latin typeface="Microsoft YaHei"/>
              </a:rPr>
              <a:t>纯关键词规则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581912"/>
            <a:ext cx="2743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72326"/>
                </a:solidFill>
                <a:latin typeface="Microsoft YaHei"/>
              </a:rPr>
              <a:t>可解释但边界粗糙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581912"/>
            <a:ext cx="4389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37071"/>
                </a:solidFill>
                <a:latin typeface="Microsoft YaHei"/>
              </a:rPr>
              <a:t>无法处理跨学科表达与语义变体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423160"/>
            <a:ext cx="102412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587752"/>
            <a:ext cx="1600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72326"/>
                </a:solidFill>
                <a:latin typeface="Microsoft YaHei"/>
              </a:rPr>
              <a:t>固定 taxonomy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587752"/>
            <a:ext cx="2743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72326"/>
                </a:solidFill>
                <a:latin typeface="Microsoft YaHei"/>
              </a:rPr>
              <a:t>主题稳定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587752"/>
            <a:ext cx="4389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37071"/>
                </a:solidFill>
                <a:latin typeface="Microsoft YaHei"/>
              </a:rPr>
              <a:t>遇到 unknown/open-set 容易漏召回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429000"/>
            <a:ext cx="102412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593592"/>
            <a:ext cx="1600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72326"/>
                </a:solidFill>
                <a:latin typeface="Microsoft YaHei"/>
              </a:rPr>
              <a:t>全量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593592"/>
            <a:ext cx="2743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72326"/>
                </a:solidFill>
                <a:latin typeface="Microsoft YaHei"/>
              </a:rPr>
              <a:t>语义理解强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593592"/>
            <a:ext cx="4389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37071"/>
                </a:solidFill>
                <a:latin typeface="Microsoft YaHei"/>
              </a:rPr>
              <a:t>成本、漂移、可复现性和合同风险高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4434840"/>
            <a:ext cx="10241280" cy="676656"/>
          </a:xfrm>
          <a:prstGeom prst="roundRect">
            <a:avLst/>
          </a:prstGeom>
          <a:solidFill>
            <a:srgbClr val="DDF3ED"/>
          </a:solidFill>
          <a:ln w="127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599432"/>
            <a:ext cx="1600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72326"/>
                </a:solidFill>
                <a:latin typeface="Microsoft YaHei"/>
              </a:rPr>
              <a:t>MEC-BS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4599432"/>
            <a:ext cx="2743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0E7C7B"/>
                </a:solidFill>
                <a:latin typeface="Microsoft YaHei"/>
              </a:rPr>
              <a:t>规则主导 + 动态主题 + 选择性裁决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599432"/>
            <a:ext cx="4389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72326"/>
                </a:solidFill>
                <a:latin typeface="Microsoft YaHei"/>
              </a:rPr>
              <a:t>同时满足精度、比例稳定和解释性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06440"/>
            <a:ext cx="100584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F06449"/>
                </a:solidFill>
                <a:latin typeface="Microsoft YaHei"/>
              </a:rPr>
              <a:t>论文表达建议：把本方案称为“多层证据约束二分类框架”，代码函数名只放入附录实现映射。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49377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37071"/>
                </a:solidFill>
                <a:latin typeface="Microsoft YaHei"/>
              </a:rPr>
              <a:t>城市更新二分类指标提取任务 | 进度汇报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55664"/>
            <a:ext cx="3200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637071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13232"/>
            <a:ext cx="310896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F2C14E"/>
                </a:solidFill>
                <a:latin typeface="Microsoft YaHei"/>
              </a:rPr>
              <a:t>阶段性结论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676656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城市更新二分类指标提取任务已经达标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95728"/>
            <a:ext cx="7498079" cy="11430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DDF3ED"/>
                </a:solidFill>
                <a:latin typeface="Microsoft YaHei"/>
              </a:rPr>
              <a:t>1. no-LLM 已满足 80% Accuracy 与全量稳定运行要求。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DDF3ED"/>
                </a:solidFill>
                <a:latin typeface="Microsoft YaHei"/>
              </a:rPr>
              <a:t>2. 选择性 LLM 将困难样本 Accuracy 提升到 90.4%。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DDF3ED"/>
                </a:solidFill>
                <a:latin typeface="Microsoft YaHei"/>
              </a:rPr>
              <a:t>3. 两轮 10000 和全量 40276 证明结构稳定，不是小样本过拟合。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1280160"/>
            <a:ext cx="2468880" cy="3017520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87968" y="1627632"/>
            <a:ext cx="18288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6528" y="2176272"/>
            <a:ext cx="2011680" cy="10972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</a:rPr>
              <a:t>· conflict_review 分层抽检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</a:rPr>
              <a:t>· 新兴动态主题人工复核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</a:rPr>
              <a:t>· 论文方法与实验章节固化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</a:rPr>
              <a:t>· 汇报材料转答辩 PPT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97840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2C14E"/>
                </a:solidFill>
                <a:latin typeface="Microsoft YaHei"/>
              </a:rPr>
              <a:t>核心论点：规则负责稳定边界，动态主题负责开放覆盖，LLM 负责困难裁决。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